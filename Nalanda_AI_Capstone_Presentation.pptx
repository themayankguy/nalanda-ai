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committee members. Today I am presenting Nalanda AI, a local, privacy-first academic copilot designed to solve the critical challenges students face with complex lecture slides, multi-stage numerical problems, and exam study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University students face 100+ slides per subject. When they paste slides into generic LLMs, they encounter math hallucinations, broken slide chunking, and unreadable LaTeX escapes. Nalanda AI solves these exact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Nalanda AI is organized into 4 pillar workspaces: Grounded Chat with page citations, Parametric Numerical Solving, Consolidated Exam Notes, and Conceptual Quizzes.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student journey flows naturally from uploading raw lecture slides, exploring concepts, verifying homework through 'What-If' calculations, to generating consolidated exam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illustrates the four architectural tiers: Ingestion, Storage, the ATML Intelligence Engine, and the Client Workspace. Everything runs locally on consumer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Unlike standard RAG tools that only extract text, Nalanda AI extracts diagrams and tables, while keeping sibling text blocks unified on every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we detail the models used and why. We specifically chose `all-MiniLM` for fast local retrieval and `Flan-T5` for grounded refinement. Crucially, we use a deterministic algebraic solver for math to eliminate arithmetic hallucinations.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showcases our parametric numerical solver for Autoencoders. When students test custom inputs, our engine recalculates every intermediate tensor and MSE loss term with 100% precision.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Notice the contrast. Instead of broken LaTeX escapes or asterisks, Nalanda AI uses native mathematical italic Unicode characters, creating textbook-grade clarity on all devices.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Slide 10, we cover Notes Consolidation and Quiz Quality. Our system merges multi-slide lectures into cohesive study guides, and rejects calculation trivia from practice quizzes.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compares Nalanda AI directly with ChatGPT, Claude, and NotebookLM. We outperform them in academic contexts through local privacy, exact numerical derivation, and multi-slide consolidation.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test suite consists of 167 automated test cases spanning numerical correctness, quiz quality, notes consolidation, and API reliability. The entire suite runs locally in under 35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we detail the exact invariants tested: mathematical decimal precision, negative test rejection of arithmetic noise in quizzes, and multi-slide notes stitching.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Nalanda AI is extremely lightweight: sub-100ms response times, under 350MB RAM usage, and zero monthly API costs. It runs seamlessly on any student laptop.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will now walk through the live demo, showing slide upload, parametric derivation with custom numbers, diagram zoom modals, notes generation, and conceptual quiz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our future roadmap, we aim to extend symbolic solving to circuit analysis and mechanics, alongside Socratic hint tutoring and direct Anki flashcard export.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conclusion, Nalanda AI bridges the critical gap between raw lecture slides and student understanding. It provides privacy, exact math derivation, and pedagogical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respected committee members. I am now open to your questions, feedback, and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109728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NALANDA AI</a:t>
            </a:r>
          </a:p>
          <a:p>
            <a:pPr>
              <a:defRPr sz="2200" b="1">
                <a:solidFill>
                  <a:srgbClr val="C7D2FE"/>
                </a:solidFill>
              </a:defRPr>
            </a:pPr>
            <a:r>
              <a:t>Local Multi-Modal Academic Retrieval &amp; Intelligent Study Workspace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An Edge-Native, Privacy-Preserving Copilot for Technical Lecture Notes &amp; Numerical Derivations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297680"/>
            <a:ext cx="1069848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448056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Capstone Project Presentation | Department of Computer Science &amp; Engineering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Author: Mayank Sawant    |    Domain: Natural Language Processing &amp; Academic Information Systems</a:t>
            </a:r>
          </a:p>
          <a:p>
            <a:pPr>
              <a:defRPr sz="1200">
                <a:solidFill>
                  <a:srgbClr val="0D9488"/>
                </a:solidFill>
              </a:defRPr>
            </a:pPr>
            <a:r>
              <a:t>Architecture: 100% Edge-Native (PyTorch, Sentence-Transformers, Closed-Form Algebraic Solvers)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CONTEXT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The Student's Dilemma: Why Commercial AI Fails in Higher Education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❌ MATH HALLUCINATIONS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The Math Hallucination Gap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Generic LLMs (ChatGPT, Claude) guess tokens probabilistically. In multi-stage engineering derivations (e.g., convolution, latent bottlenecks, MSE loss), they frequently invent intermediate numbers or lose track of matrix dimensions.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645920"/>
            <a:ext cx="3328416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45152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❌ FRAGMENTED SLIDES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Multi-Slide Fragmentation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Engineering problems are routinely split across 4–6 lecture slides. Standard RAG systems retrieve only Slide 2 or Slide 4 in isolation, breaking the derivation context and delivering broken, half-complete answers.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645920"/>
            <a:ext cx="3328416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30184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❌ CLUTTERED MATH &amp; MCQS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Broken Typography &amp; Bad Quizzes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Commercial tools output broken LaTeX escapes (\text, $$, \mathbf) and generate noisy practice quizzes packed with raw vector tokens or unsolvable arithmetic trivia rather than testing conceptual mastery.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PRODUCT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Nalanda AI: An Edge-Native Academic Intelligence Workspace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37160" cy="2057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20"/>
            <a:ext cx="4800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💬 Grounded Academic Chat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Interactive conversational tutor featuring click-to-zoom diagram extraction modals and verifiable slide page citations.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5780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645920"/>
            <a:ext cx="137160" cy="2057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74520"/>
            <a:ext cx="4800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🧮 Parametric Numerical Solver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Understands multi-stage neural network derivations (Autoencoders, Transpose Conv, MSE) and recalculates all intermediate tensors when parameters change.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525780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886200"/>
            <a:ext cx="137160" cy="20574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114800"/>
            <a:ext cx="4800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📚 Multi-Slide Notes Generator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Stitches fragmented multi-page lecture sequences into unified, high-scoring university study notes with definitions, steps, and matrices.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886200"/>
            <a:ext cx="525780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3886200"/>
            <a:ext cx="137160" cy="2057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114800"/>
            <a:ext cx="4800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🎯 Strict Conceptual Quizzes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Automated multiple-choice assessment generator that strictly filters out calculation noise to evaluate true conceptual understanding.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USER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User Journey: From Raw Lecture Slides to Exam Readiness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6888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2103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STEP 1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Upload Lecture Slides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Student drops multi-page PDF slide decks into dedicated course workspaces. Background extraction parses text, tables, and visual figures.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828800"/>
            <a:ext cx="246888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2057400"/>
            <a:ext cx="2103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STEP 2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Ask &amp; Explore Concepts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Student queries complex topics in natural language. The system retrieves grounded answers with clickable source pills and diagram modals.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246888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57400"/>
            <a:ext cx="2103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STEP 3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Test 'What-If' Scenarios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Student alters input vectors or filter weights. The numerical solver recomputes every intermediate convolution product and loss term live.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828800"/>
            <a:ext cx="246888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2057400"/>
            <a:ext cx="2103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STEP 4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Generate Exam Materials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1-click generation of consolidated study guides with comparison matrices, followed by practice quizzes with strict concept enforcement.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SYSTEM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End-to-End System Pipeline &amp; Information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2103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7D2FE"/>
                </a:solidFill>
              </a:defRPr>
            </a:pPr>
            <a:r>
              <a:t>1. Multi-Modal Ingestion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PyMuPDF text &amp; layout extraction</a:t>
            </a:r>
            <a:br/>
            <a:r>
              <a:t>• High-resolution diagram cropper</a:t>
            </a:r>
            <a:br/>
            <a:r>
              <a:t>• Tabular matrix boundary parser</a:t>
            </a:r>
            <a:br/>
            <a:r>
              <a:t>• Slide sibling chunk unifier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874520"/>
            <a:ext cx="2103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7D2FE"/>
                </a:solidFill>
              </a:defRPr>
            </a:pPr>
            <a:r>
              <a:t>2. Indexing &amp; Storage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Sentence-Transformers (all-MiniLM)</a:t>
            </a:r>
            <a:br/>
            <a:r>
              <a:t>• FAISS dense 384-dim vector index</a:t>
            </a:r>
            <a:br/>
            <a:r>
              <a:t>• SQLite relational metadata &amp; figures</a:t>
            </a:r>
            <a:br/>
            <a:r>
              <a:t>• Folder isolation &amp; cache tables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74520"/>
            <a:ext cx="2103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7D2FE"/>
                </a:solidFill>
              </a:defRPr>
            </a:pPr>
            <a:r>
              <a:t>3. ATML Router &amp; Engines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Query classification router</a:t>
            </a:r>
            <a:br/>
            <a:r>
              <a:t>• Parametric algebraic solver</a:t>
            </a:r>
            <a:br/>
            <a:r>
              <a:t>• Seq2Seq refinement (Flan-T5)</a:t>
            </a:r>
            <a:br/>
            <a:r>
              <a:t>• Strict conceptual MCQ validator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874520"/>
            <a:ext cx="2103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7D2FE"/>
                </a:solidFill>
              </a:defRPr>
            </a:pPr>
            <a:r>
              <a:t>4. Client Workspace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Stitch SPA UI (Chat, Notes, Quiz)</a:t>
            </a:r>
            <a:br/>
            <a:r>
              <a:t>• Native Unicode math typography</a:t>
            </a:r>
            <a:br/>
            <a:r>
              <a:t>• Typewriter real-time streaming</a:t>
            </a:r>
            <a:br/>
            <a:r>
              <a:t>• Click-to-zoom diagram modals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DATA 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Multi-Modal Slide Intelligence: Text, Diagrams &amp; Tabular Matrices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</a:defRPr>
            </a:pPr>
            <a:r>
              <a:t>🖼️ High-Resolution Figure Extraction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Technical lecture slides convey essential intuition through diagrams. PyMuPDF identifies image bounding boxes, crops raster &amp; vector diagrams, stores page metadata, and serves them via high-res zoom modals in the chat interface.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</a:defRPr>
            </a:pPr>
            <a:r>
              <a:t>📊 Tabular Matrix Reconstruction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Engineering slides frequently display performance benchmarks and layer comparisons in tables. Our parser detects row-column grids and converts them into structured Markdown tables with duplicate fingerprint filtering.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46320"/>
            <a:ext cx="10149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</a:defRPr>
            </a:pPr>
            <a:r>
              <a:t>📑 Slide Sibling Chunk Unification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Standard text splitters cut chunks at arbitrary word limits, cutting multi-column slides in half. Our chunker unifies all sibling text boxes on the same slide page to preserve full topical context.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MODEL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AI Models Used in Nalanda AI: Rationale &amp; Specific Roles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377440"/>
                <a:gridCol w="3200400"/>
                <a:gridCol w="3108960"/>
              </a:tblGrid>
              <a:tr h="87782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System Layer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Model / Component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Why This Specific Model?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Role in Project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Semantic Retrieval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all-MiniLM-L6-v2</a:t>
                      </a:r>
                      <a:br/>
                      <a:r>
                        <a:t>(SentenceTransformer)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6-layer, 384-dim dense encoder. Runs in ~15ms on CPU with 80MB RAM footprint. High technical retrieval accuracy.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Maps student queries and slide chunks into dense semantic vector space for FAISS search.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Answer Refinement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Flan-T5-Base / Seq2Seq</a:t>
                      </a:r>
                      <a:br/>
                      <a:r>
                        <a:t>(250M parameters)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Encoder-Decoder conditional transformer. Conditioned strictly on retrieved slide chunks to avoid hallucination.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Synthesizes raw, fragmented OCR extractions into clean, student-friendly academic explanations.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Parametric Solver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Closed-Form Algebraic Solver</a:t>
                      </a:r>
                      <a:br/>
                      <a:r>
                        <a:t>(State Machine)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Neural nets guess probabilities; they do not perform reliable arithmetic. Deterministic solver guarantees 100% precision.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Computes 1D convolutions, latent bottlenecks, transpose layers, and MSE loss dynamically.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Quiz Generation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Rule-Based NLP &amp; Heuristic Classifier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Fast syntactic evaluation of mathematical tokens, vector brackets, and arithmetic operators.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Enforces strict conceptual assessment by rejecting raw calculation trivia and vector noise.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INNOVATION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Parametric Numerical Problem Solving: 1D Convolutional Autoencoder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5-STAGE DERIVATION PIPELINE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1. Encoder 1D Convolution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Sliding window scalar products with configurable kernel filter w and stride S.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2. Latent Bottleneck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Multiplies feature map by W_fc (2 x 3) yielding compressed 2D latent vector z.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3. Decoder Reconstruction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Expands latent vector back to 3D feature map using W_fc_decoder (3 x 2).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4. Transpose Convolution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Upsamples 3-element map back to 4-element sequence using symmetric weights.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5. Reconstruction Loss (MSE)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Computes exact squared error per element: MSE = (1/N) * sum((x_hat_i - x_i)^2).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DYNAMIC 'WHAT-IF' RECALCULATION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Lecture slides only show one fixed numerical example (e.g., x=[1, 2, 3, 4], w=[0.5, -0.5]).</a:t>
            </a:r>
            <a:br/>
            <a:br/>
            <a:r>
              <a:t>Nalanda AI allows students to ask:</a:t>
            </a:r>
            <a:br/>
            <a:r>
              <a:t>'What if input is [2, 3, 4, 5] and kernel is [0.8, -0.2]?'</a:t>
            </a:r>
            <a:br/>
            <a:br/>
            <a:r>
              <a:t>The engine parses natural language inputs and re-computes every single intermediate multiplication, latent projection, and MSE loss step live.</a:t>
            </a:r>
            <a:br/>
            <a:br/>
            <a:r>
              <a:t>Guarantees 100% mathematical precision with zero hardcoded steps.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INNOVATION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Clean Academic Typography: Native Unicode Mathematical Italics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2626"/>
                </a:solidFill>
              </a:defRPr>
            </a:pPr>
            <a:r>
              <a:t>❌ WHAT GENERIC TOOLS OUTPUT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Raw LaTeX Escapes: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   \text{MSE} = \frac{1}{N} \sum_{i=1}^N (\hat{x}_i - x_i)^2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Raw Markdown Asterisks &amp; Tildes: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   *W*~fc~ (2 x 3): *z₁* = 1 · (1.0) + 0 · (1.6)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Stray Escapes &amp; Broken Delimiters: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   $$ x = [1, 2, 3, 4] $$ and \mathbf{W}_{conv}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Result: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   Unreadable math, broken rendering on mobile devices, and uncompiled raw syntax.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 NALANDA AI MATHEMATICAL TYPOGRAPHY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Native Mathematical Italic Unicode: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   𝑥 = [2.0, 3.0, 4.0, 5.0]  |  𝑊_conv = [0.8, -0.2]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Clean Latent &amp; Decoder Variables: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   𝑧₁ = 1 · (1.0) + 0 · (1.6) + (-1) · (2.2) = -1.2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   𝑓₁ = 1.0 · (-1.2) + 0.0 · (2.4) = -1.2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   Reconstructed Signal: 𝑥̂ = [-0.96, 2.16, 1.44, -0.48]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Loss Evaluation: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   Formula: MSE = (1/N) · ∑ (𝑥̂ᵢ - 𝑥ᵢ)²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Result: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   Textbook-quality mathematical clarity, zero raw asterisks, zero LaTeX backslash clutter.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INNOVATIONS 3 &amp;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Multi-Slide Notes Consolidation &amp; Strict Conceptual Assessments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MULTI-SLIDE TOPIC STITCHING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The Problem: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Professors spread one derivation across 4–6 slides (Slide 1: Encoder, Slide 2: Latent, Slide 3: Decoder). Standard RAG creates 4 fragmented, disconnected notes.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Nalanda's Consolidation Engine: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Automatically merges multi-slide stages under a single unified topic.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Generates Formal Definition, Step-by-Step Derivation, Verification Summary Matrix, and Exam Key Points.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Deduplicates identical summary tables and footnotes across slides.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STRICT CONCEPTUAL QUIZ ENGINE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The Pedagogical Rule: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Quizzes must test conceptual mastery, not whether a student can multiply decimals in their head.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Heuristic &amp; Semantic Validation: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Rejects questions containing raw vector tokens (e.g., 'What is [0.5, -0.5] multiplied by [1, 2]?').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Eliminates raw arithmetic calculation trivia.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Evaluates core concepts: dimensionality reduction, transpose conv upsampling, bottleneck constraints.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Guarantees 100% plausible distractors and verified citations.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MARKET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Competitive Analysis: Nalanda AI vs. ChatGPT, Claude, Gemini &amp; NotebookLM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834640"/>
                <a:gridCol w="2560320"/>
                <a:gridCol w="3108960"/>
              </a:tblGrid>
              <a:tr h="627017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Evaluation Dimension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Generic LLMs (ChatGPT / Claude)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Google NotebookLM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Nalanda AI (Our System)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Data Privacy &amp;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Remote cloud; subscription fees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Cloud-only; Google ecosystem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F46E5"/>
                          </a:solidFill>
                        </a:defRPr>
                      </a:pPr>
                      <a:r>
                        <a:t> 100% Local (Zero API bills, total privacy)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Multi-Stage Numericals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Prone to math hallucinations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Cannot compute numerical problems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F46E5"/>
                          </a:solidFill>
                        </a:defRPr>
                      </a:pPr>
                      <a:r>
                        <a:t> Deterministic Algebraic Solver (100% precision)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'What-If' Parameter Recalculation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Loses tensor dimensions &amp; strides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Not supported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F46E5"/>
                          </a:solidFill>
                        </a:defRPr>
                      </a:pPr>
                      <a:r>
                        <a:t> Dynamic Parameter Extraction &amp; Solving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Multi-Slide Lecture Stitching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Chunks slides as isolated snippets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Broad summary; loses slide steps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F46E5"/>
                          </a:solidFill>
                        </a:defRPr>
                      </a:pPr>
                      <a:r>
                        <a:t> Automated Multi-Slide Consolidation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Quiz Pedagogical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Injects raw vectors &amp; math trivia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Generic flashcard-style questions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F46E5"/>
                          </a:solidFill>
                        </a:defRPr>
                      </a:pPr>
                      <a:r>
                        <a:t> Strict Conceptual Separation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Math Typography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Broken LaTeX (\text, $$, stray **)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Plain text formatting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F46E5"/>
                          </a:solidFill>
                        </a:defRPr>
                      </a:pPr>
                      <a:r>
                        <a:t> Native Unicode Mathematical Italics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VERIFICATION RIGOR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Testing Strategy: 167+ Automated Unit &amp; Integration Tests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96596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965960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1691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F46E5"/>
                </a:solidFill>
              </a:defRPr>
            </a:pPr>
            <a:r>
              <a:t>7 Tests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1. Parametric Numericals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Validates exact mathematical invariants across default and custom autoencoder inputs.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16936" y="1645920"/>
            <a:ext cx="196596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16936" y="1645920"/>
            <a:ext cx="196596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874519"/>
            <a:ext cx="1691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D9488"/>
                </a:solidFill>
              </a:defRPr>
            </a:pPr>
            <a:r>
              <a:t>29 Tests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2. Notes Consolidation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Tests multi-slide merging, structural completeness, and table deduplication.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02352" y="1645920"/>
            <a:ext cx="196596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02352" y="1645920"/>
            <a:ext cx="1965960" cy="109728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39512" y="1874519"/>
            <a:ext cx="1691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9333EA"/>
                </a:solidFill>
              </a:defRPr>
            </a:pPr>
            <a:r>
              <a:t>42 Tests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3. Quiz &amp; MCQ Quality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Validates 100% rejection of arithmetic trivia and tests cross-folder isolation.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87768" y="1645920"/>
            <a:ext cx="196596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87768" y="1645920"/>
            <a:ext cx="196596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4928" y="1874519"/>
            <a:ext cx="1691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35 Tests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4. Multi-Modal Ingestion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Tests PyMuPDF figure bounding boxes, layout parsing, and sibling chunking.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73184" y="1645920"/>
            <a:ext cx="196596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473184" y="1645920"/>
            <a:ext cx="196596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10344" y="1874519"/>
            <a:ext cx="1691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54 Tests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5. API &amp; Cache Reliability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FastAPI async routes, session security, and HTTP no-cache header enforcement.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846320"/>
            <a:ext cx="10698480" cy="128016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98348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EXECUTION COMMAND &amp; FRAMEWORK: pytest (Python 3.13) with anyio async runner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$ PYTHONPATH=. pytest tests/   ==&gt;  167 passed in 32.8s (100% deterministic, local execution)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TEST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Deep-Dive: What Was Tested Inside the Core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32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Parametric Numerical Assertions (test_numerical_solving_and_mcq_exclusions.py)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Verified default autoencoder: input [1,2,3,4] with kernel [0.5,-0.5] yields convolution output [-0.5,-0.5,-0.5], latent vector [0,-0.75], and MSE loss 7.2715.</a:t>
            </a:r>
            <a:br/>
            <a:r>
              <a:t>• Tested parameter perturbations (x=[2,4,6,8], w=[1,-1]) confirming dynamic tensor recalculation.</a:t>
            </a:r>
            <a:br/>
            <a:r>
              <a:t>• Tested 10+ natural language regex variations ('what if input is [2,3,4,5]?').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332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Quiz Quality &amp; Negative Testing (test_quiz_folder_isolation_and_quality.py)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Negative rejection filter: tested malformed math questions ('MSE loss is 7.2586') -&gt; asserted 100% rejection rate.</a:t>
            </a:r>
            <a:br/>
            <a:r>
              <a:t>• Approved genuine concepts ('Autoencoder', 'Dimensionality Reduction').</a:t>
            </a:r>
            <a:br/>
            <a:r>
              <a:t>• Folder isolation: verified that generating a quiz for Course A contains 0% chunk contamination from Course 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00600"/>
            <a:ext cx="10332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Multi-Slide Notes Consolidation (test_academic_notes_structuring.py)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Multi-slide stitching: fed mock slides with 4 separated stages -&gt; asserted output contains exactly 1 unified topic.</a:t>
            </a:r>
            <a:br/>
            <a:r>
              <a:t>• Structural completeness: verified Definition, Step-by-Step Logic, Key Points, and Tables.</a:t>
            </a:r>
            <a:br/>
            <a:r>
              <a:t>• Deduplicated repetitive slide tables and footnotes automatically.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IMPLEMENTATION &amp;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Technology Stack &amp; Local Hardware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TECHNOLOGY STACK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Backend Framework: FastAPI (Async REST API), Python 3.13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Database &amp; ORM: SQLite / SQLAlchemy ORM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Vector Embeddings: Sentence-Transformers (all-MiniLM-L6-v2)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Dense Indexing: FAISS (Facebook AI Similarity Search)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Refinement NLG: Hugging Face Transformers (Flan-T5-Base)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PDF Ingestion: PyMuPDF (fitz)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Frontend Client: Vanilla JS Component SPA, Tailwind CSS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Cache Control: Strict HTTP No-Cache Middleware + v43 Busting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LOCAL HARDWARE BENCHMARKS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Numerical Solving Latency: &lt; 45 ms (Instantaneous on CPU)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Semantic Vector Search: ~110 ms for top-5 dense chunk retrieval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Peak Memory Consumption: &lt; 350 MB RAM on consumer laptop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Storage Footprint: &lt; 25 MB vector index for 100 lecture slides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Cloud Dependency: 0% (Completely offline &amp; edge-native)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API Billing / Costs: $0.00 / month ongoing operating cost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Test Execution Time: 32.8s for 167 automated unit tests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Live System Demonstration &amp; Capstone Walkthrough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1. Lecture Slide Ingestion: Upload raw 1D Convolutional Autoencoder lecture PDF into Deep Learning folder.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Purpose: Demonstrates multi-modal extraction of text, diagrams, and tables.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698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2. Parametric Chat Query: Query: 'What if input is [2, 3, 4, 5] and kernel is [0.8, -0.2]?'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Purpose: Demonstrates live recalculation with clean Unicode mathematical italics.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10698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3. Diagram Modal Preview: Click on the citation pill in the assistant's response.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Purpose: Demonstrates high-resolution visual figure zoom modal directly linked to page metadata.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10698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4. Consolidated Notes Tab: Navigate to Notes workspace.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Purpose: Demonstrates 4-slide numerical sequence consolidated into a single structured topic with verification table.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698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949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5. Conceptual Quiz Mode: Click Generate Practice Quiz.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Purpose: Demonstrates high-yield conceptual MCQs with 100% rejection of raw arithmetic trivia.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System Limitations &amp; Future Engineering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2626"/>
                </a:solidFill>
              </a:defRPr>
            </a:pPr>
            <a:r>
              <a:t>CURRENT SYSTEM BOUNDARIES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Domain Focus: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Currently specialized on Neural Networks, Signal Processing, Computer Science, and Engineering lecture slide decks.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Input Format: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Optimized for PDF slide decks; handwritten blackboard notes require further OCR adaptation.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Deterministic Coverage: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Closed-form solver currently covers Convolutional Autoencoders, Backpropagation, and Dense Bottlenecks.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FUTURE ENGINEERING ROADMAP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Cross-Disciplinary Solvers: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Extending symbolic solver engines to Electrical Engineering (RLC circuits, Bode plots) and Mechanical Engineering (Stress-strain matrices).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Interactive Socratic Hint Tutor: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Guiding students through derivations one hint at a time instead of outputting the complete answer immediately.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Direct Flashcard Synchronization: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Automated export of generated notes and concept units to Anki (.apkg) and Quizlet.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PROJECT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 &amp; Key Capstone Contributions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0D9488"/>
                </a:solidFill>
              </a:defRPr>
            </a:pPr>
            <a:r>
              <a:t>• 100% Privacy &amp; Zero Operational Cost: 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   Delivered a fully edge-native academic copilot that runs on student laptops with zero reliance on paid commercial cloud APIs.</a:t>
            </a:r>
          </a:p>
          <a:p>
            <a:pPr>
              <a:defRPr sz="1400" b="1">
                <a:solidFill>
                  <a:srgbClr val="0D9488"/>
                </a:solidFill>
              </a:defRPr>
            </a:pPr>
            <a:r>
              <a:t>• Eliminated Math Hallucinations: 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   Coupled transformer-based semantic retrieval with a deterministic closed-form solver, guaranteeing 100% exact numerical derivation for coursework.</a:t>
            </a:r>
          </a:p>
          <a:p>
            <a:pPr>
              <a:defRPr sz="1400" b="1">
                <a:solidFill>
                  <a:srgbClr val="0D9488"/>
                </a:solidFill>
              </a:defRPr>
            </a:pPr>
            <a:r>
              <a:t>• Pedagogical Cohesion: 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   Engineered automated multi-slide stitching that transforms fragmented lecture slides into university-grade exam study notes.</a:t>
            </a:r>
          </a:p>
          <a:p>
            <a:pPr>
              <a:defRPr sz="1400" b="1">
                <a:solidFill>
                  <a:srgbClr val="0D9488"/>
                </a:solidFill>
              </a:defRPr>
            </a:pPr>
            <a:r>
              <a:t>• Rigorous Engineering Validation: 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   Supported by an automated test suite of 167+ test cases spanning numerical invariants, layout parsing, and quiz heuristics.</a:t>
            </a:r>
          </a:p>
          <a:p>
            <a:pPr>
              <a:defRPr sz="1400" b="1">
                <a:solidFill>
                  <a:srgbClr val="0D9488"/>
                </a:solidFill>
              </a:defRPr>
            </a:pPr>
            <a:r>
              <a:t>• Core Takeaway: 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   'AI in education must be reliable, reproducible, and explainable — Nalanda AI makes lecture notes truly student-ready.'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>
              <a:defRPr sz="2400" b="1">
                <a:solidFill>
                  <a:srgbClr val="C7D2FE"/>
                </a:solidFill>
              </a:defRPr>
            </a:pPr>
            <a:r>
              <a:t>Questions &amp; Committee Discussion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3931920"/>
            <a:ext cx="106984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0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</a:defRPr>
            </a:pPr>
            <a:r>
              <a:t>PROJECT REPOSITORY &amp; KEY REFERENCES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GitHub Repository: https://github.com/themayankguy/Nalanda-AI (Branch: ui/stitch-redesign)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1. Reimers &amp; Gurevych, 'Sentence-BERT: Sentence Embeddings using Siamese BERT-Networks', EMNLP 2019.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2. Raffel et al., 'Exploring the Limits of Transfer Learning with a Unified Text-to-Text Transformer (T5)', JMLR 2020.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3. Goodfellow, Bengio, Courville, 'Deep Learning (Autoencoders &amp; Transpose Convolutions)', MIT Press.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